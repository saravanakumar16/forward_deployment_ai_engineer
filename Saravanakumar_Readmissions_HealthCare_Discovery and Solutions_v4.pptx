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keholder briefing" id="{86f0f8b5-d171-f5d2-a149-7f2caddeec2f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E727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E7278"/>
                </a:solidFill>
                <a:latin typeface="+mn-lt"/>
              </a:rPr>
              <a:t>30-day readmission rate by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readmission rate</c:v>
                </c:pt>
              </c:strCache>
            </c:strRef>
          </c:tx>
          <c:spPr>
            <a:solidFill>
              <a:srgbClr val="9CCBC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7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CB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CB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CB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5.6</c:v>
                </c:pt>
                <c:pt idx="1">
                  <c:v>9.2</c:v>
                </c:pt>
                <c:pt idx="2">
                  <c:v>12.5</c:v>
                </c:pt>
                <c:pt idx="3">
                  <c:v>15.4</c:v>
                </c:pt>
                <c:pt idx="4">
                  <c:v>19.4</c:v>
                </c:pt>
                <c:pt idx="5">
                  <c:v>24.3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27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7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DCE6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2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population. 101,766 inpatient encounters with a diabetes diagnosis from 130 US hospitals, 1999 to 2008; 2,423 deaths and hospice transfers removed, leaving 99,343 discharges from 69,990 patients. 11,314 (11.4%) were readmitted within 30 days. Average stay 4.4 days, median 4. Race: Caucasian 74.7% (11.5% readmitted), African American 18.9% (11.4%), all other and not recorded 6.4% (9.6%). Gender: female 53.8% (11.5%), male 46.2% (11.3%). Age: under 60 33.1% (10.3%), 60 to 79 47.7% (11.7%), 80 and over 19.1% (12.5%); 67% are 60 or older. Admission type: emergency 52.7% (11.8%), urgent 18.3% (11.4%), elective 18.8% (10.5%), other or not recorded 10.2%. Admission source: emergency room 56.2% (12.0%), physician referral 29.4% (10.7%), other or not recorded 14.4% (10.5%). Time in hospital: 1 to 3 days 48.5% (9.9%), 4 to 6 days 31.0% (12.3%), 7 to 14 days 20.5% (13.6%). HbA1c test: not tested 83.0% (11.7%); tested with a high result, above 7%, 12.0% (10.0%); tested with a normal result 5.0% (9.8%). Discharged to: home 60.6% (9.3%), post-acute care such as skilled nursing, home health or rehabilitation 33.7% (14.9%), other 5.6% (12.8%). Reading: readmission barely differs by race or gender; it rises with age, emergency entry, longer stays, no HbA1c test and discharge to post-acute care. Race is not recorded for 2.2% of discharges.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PROBLEM, stated separately for revenue operations and financial operations. Base: 99,343 discharges eligible for readmission (2,423 deaths and hospice transfers removed); 11,314 were readmitted within 30 days (11.4%). REVOPS: payer is recorded on 59,945 discharges. Of their 6,708 readmissions, 57% are Medicare (Medicare is 52% of those discharges) and 63% are Medicare or Medicaid. Medicare can cut base payments by up to 3% for excess readmissions. 4,606 readmissions (41%) have no payer on record, which is $70M of the $172M cost of care that cannot be tied to a contract. FINOPS: 11,314 x $15,200 (AHRQ benchmark) = $172M of care, or $17.3M per 10,000 discharges. Return stays average 5.0 days, about 56,900 bed days, 13% of the 435,056 total. Break-even spend on discharge support is $417 per high-risk patient and $205 for everyone else, so support spread evenly does not pay back. ROOT CAUSE from the published study (Strack et al., 2014; 69,984 patients): 91.8% were admitted for something other than diabetes and 81.6% had no HbA1c test. The $172M is the cost of delivering care, not money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HYPOTHESIS. The score adds one point per prior inpatient stay (maximum 3) and one each for any emergency visit in the past year, discharge to post-acute care, nine or more diagnoses, and a stay of seven days or longer. Readmission by score: 0 = 5.6%, 1 = 9.2%, 2 = 12.5%, 3 = 15.4%, 4 = 19.4%, 5+ = 24.3%. A score of 3 or more flags 25,687 discharges (26%), who readmit at 18.3% against 9.0% for the rest and hold 42% of readmissions. Example from the data: a patient aged 50 to 60 with four prior stays, nine diagnoses and a transfer to another hospital scores 5 and was readmitted; a patient the same age with no prior stays, three diagnoses and sent home scores 0 and was not. The 15% assumption comes from a 2023 review of 126 trials (Tyler et al., JAMA Network Open) reporting 18 to 22% lower odds. The score separates groups, not individuals (AUC 0.63), and needs validating on local data. Proof at 80% power needs about 2,900 flagged patients per 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mapped to the problems on slide 1. (1) Risk flag: applies the five-signal score in the EHR so discharge support goes to the 26% of patients where break-even spend is $417, not the rest where it is $205. FinOps. (2) Transition bundle for flagged patients: pharmacist medicines review, teach-back, follow-up booked before discharge, nurse call within 48 hours. Per 10,000 discharges it avoids about 71 readmissions and $1.08M of cost (FinOps); 62% of flagged patients with a recorded payer are on Medicare, so it also reduces the readmissions that count toward the penalty (RevOps). (3) Post-acute handoff: one transfer summary and a named contact; post-acute transfers return at 14.9% and use 5.0 bed days per return (FinOps). (4) HbA1c on admission when no result exists from the last three months; closes the 83% gap (FinOps and patient care). (5) Payer capture: make payer a required field at registration and report readmissions by payer monthly; closes the 41% gap, which is about $7.0M of readmission care per 10,000 discharges (RevOps). Pilot: days 0 to 30 validate and build; days 30 to 120 run on two units against two comparison units; days 120 to 180 compare and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VALUE, per 10,000 eligible diabetic discharges. HOSPITAL, FinOps: 2,586 patients flagged; 473 readmitted today; 15% reduction avoids 71; 71 x $15,200 = $1.08M avoided; programme cost 2,586 x $250 = $0.65M; net $0.43M, or $1.67 back per $1. 71 x 5.0 days = 357 bed days, room for about 81 admissions at the 4.4-day average stay. HOSPITAL, RevOps: 62% of flagged patients with a recorded payer are on Medicare, so most avoided readmissions reduce the count that drives the penalty of up to 3%. Payer capture makes about 464 readmissions per 10,000 discharges attributable to a payer, $7.0M of care. PATIENTS: 59% of traceable readmissions arrived through the emergency department, so about 42 of the 71 are emergency arrivals; 357 days at home; 2,586 patients (average 19 medications, 53% aged 70 or over) get a medicines review; about 8,300 more get an HbA1c result, and 48% of those tested today are above 8%. Sensitivity: break-even $417 per flagged patient; negative at a 10% effect with $400 per patient. The $250 is a placeholder. Under fee-for-service a readmission is also billed, so cash benefit comes through penalties avoided, value-based contracts and backfilled beds.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400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Title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Subtitle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Title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Diabetes 130-US Hospitals dataset, 1999–2008. Analysis of 99,343 discharges eligible for readmission.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Title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Strack et al., BioMed Research International, 2014. 69,984 patients, US hospitals, 1999–2008.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Sources: Diabetes 130-US Hospitals dataset, 1999–2008 (99,343 eligible discharges); Strack et al., BioMed Research International, 2014.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Overview: 99,343 diabetic discharges, mostly older patients admitted as emergencies, with one in nine back within 30 days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783080"/>
            <a:ext cx="2635758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82880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99,343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377440"/>
            <a:ext cx="2269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discharges from 69,990 patients across 130 US hospitals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67278" y="1783080"/>
            <a:ext cx="2635758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50158" y="182880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11.4%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550158" y="2377440"/>
            <a:ext cx="2269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readmitted within 30 days: 11,314 return stays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85916" y="1783080"/>
            <a:ext cx="2635758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68796" y="182880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67%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368796" y="2377440"/>
            <a:ext cx="2269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of patients are aged 60 or older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004554" y="1783080"/>
            <a:ext cx="2635758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87434" y="1828800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4.4 days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187434" y="2377440"/>
            <a:ext cx="2269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average time in hospital (median 4 days)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063240"/>
            <a:ext cx="263575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3136392"/>
            <a:ext cx="2361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Race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429000"/>
          <a:ext cx="2361438" cy="914400"/>
        </p:xfrm>
        <a:graphic>
          <a:graphicData uri="http://schemas.openxmlformats.org/drawingml/2006/table">
            <a:tbl>
              <a:tblPr/>
              <a:tblGrid>
                <a:gridCol w="1126998"/>
                <a:gridCol w="457200"/>
                <a:gridCol w="7772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Share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Readmitted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Caucasian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75%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11.5%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African American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11.4%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9.6%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3367278" y="3063240"/>
            <a:ext cx="263575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504438" y="3136392"/>
            <a:ext cx="2361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Gender</a:t>
            </a:r>
            <a:endParaRPr lang="en-US" sz="14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04438" y="3429000"/>
          <a:ext cx="2361438" cy="914400"/>
        </p:xfrm>
        <a:graphic>
          <a:graphicData uri="http://schemas.openxmlformats.org/drawingml/2006/table">
            <a:tbl>
              <a:tblPr/>
              <a:tblGrid>
                <a:gridCol w="1126998"/>
                <a:gridCol w="457200"/>
                <a:gridCol w="7772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Share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Readmitted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Female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54%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11.5%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Male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46%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11.3%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Shape 17"/>
          <p:cNvSpPr/>
          <p:nvPr/>
        </p:nvSpPr>
        <p:spPr>
          <a:xfrm>
            <a:off x="6185916" y="3063240"/>
            <a:ext cx="263575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323076" y="3136392"/>
            <a:ext cx="2361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Age</a:t>
            </a:r>
            <a:endParaRPr lang="en-US" sz="14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76" y="3429000"/>
          <a:ext cx="2361438" cy="914400"/>
        </p:xfrm>
        <a:graphic>
          <a:graphicData uri="http://schemas.openxmlformats.org/drawingml/2006/table">
            <a:tbl>
              <a:tblPr/>
              <a:tblGrid>
                <a:gridCol w="1126998"/>
                <a:gridCol w="457200"/>
                <a:gridCol w="7772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Share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Readmitted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Under 60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33%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10.3%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60 to 79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48%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11.7%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80 and over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12.5%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hape 19"/>
          <p:cNvSpPr/>
          <p:nvPr/>
        </p:nvSpPr>
        <p:spPr>
          <a:xfrm>
            <a:off x="9004554" y="3063240"/>
            <a:ext cx="263575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9141714" y="3136392"/>
            <a:ext cx="2361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HbA1c test</a:t>
            </a:r>
            <a:endParaRPr lang="en-US" sz="14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1714" y="3429000"/>
          <a:ext cx="2361438" cy="914400"/>
        </p:xfrm>
        <a:graphic>
          <a:graphicData uri="http://schemas.openxmlformats.org/drawingml/2006/table">
            <a:tbl>
              <a:tblPr/>
              <a:tblGrid>
                <a:gridCol w="1126998"/>
                <a:gridCol w="457200"/>
                <a:gridCol w="7772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Share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Readmitted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tested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83%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11.7%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Tested, high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10.0%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Tested, normal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9.8%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8" name="Shape 21"/>
          <p:cNvSpPr/>
          <p:nvPr/>
        </p:nvSpPr>
        <p:spPr>
          <a:xfrm>
            <a:off x="548640" y="4654296"/>
            <a:ext cx="263575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85800" y="4727448"/>
            <a:ext cx="2361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Admission type</a:t>
            </a:r>
            <a:endParaRPr lang="en-US" sz="1400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5020056"/>
          <a:ext cx="2361438" cy="914400"/>
        </p:xfrm>
        <a:graphic>
          <a:graphicData uri="http://schemas.openxmlformats.org/drawingml/2006/table">
            <a:tbl>
              <a:tblPr/>
              <a:tblGrid>
                <a:gridCol w="1126998"/>
                <a:gridCol w="457200"/>
                <a:gridCol w="7772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Share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Readmitted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Emergency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53%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11.8%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Urgent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11.4%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Elective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10.5%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1" name="Shape 23"/>
          <p:cNvSpPr/>
          <p:nvPr/>
        </p:nvSpPr>
        <p:spPr>
          <a:xfrm>
            <a:off x="3367278" y="4654296"/>
            <a:ext cx="263575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3504438" y="4727448"/>
            <a:ext cx="2361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Admission source</a:t>
            </a:r>
            <a:endParaRPr lang="en-US" sz="1400" dirty="0"/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04438" y="5020056"/>
          <a:ext cx="2361438" cy="914400"/>
        </p:xfrm>
        <a:graphic>
          <a:graphicData uri="http://schemas.openxmlformats.org/drawingml/2006/table">
            <a:tbl>
              <a:tblPr/>
              <a:tblGrid>
                <a:gridCol w="1126998"/>
                <a:gridCol w="457200"/>
                <a:gridCol w="7772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Share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Readmitted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Emergency room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56%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12.0%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Physician referral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29%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10.7%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10.5%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4" name="Shape 25"/>
          <p:cNvSpPr/>
          <p:nvPr/>
        </p:nvSpPr>
        <p:spPr>
          <a:xfrm>
            <a:off x="6185916" y="4654296"/>
            <a:ext cx="263575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323076" y="4727448"/>
            <a:ext cx="2361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Time in hospital</a:t>
            </a:r>
            <a:endParaRPr lang="en-US" sz="1400" dirty="0"/>
          </a:p>
        </p:txBody>
      </p:sp>
      <p:graphicFrame>
        <p:nvGraphicFramePr>
          <p:cNvPr id="8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76" y="5020056"/>
          <a:ext cx="2361438" cy="914400"/>
        </p:xfrm>
        <a:graphic>
          <a:graphicData uri="http://schemas.openxmlformats.org/drawingml/2006/table">
            <a:tbl>
              <a:tblPr/>
              <a:tblGrid>
                <a:gridCol w="1126998"/>
                <a:gridCol w="457200"/>
                <a:gridCol w="7772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Share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Readmitted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to 3 days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48%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9.9%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 to 6 days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12.3%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 to 14 days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13.6%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7" name="Shape 27"/>
          <p:cNvSpPr/>
          <p:nvPr/>
        </p:nvSpPr>
        <p:spPr>
          <a:xfrm>
            <a:off x="9004554" y="4654296"/>
            <a:ext cx="263575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38" name="Text 28"/>
          <p:cNvSpPr txBox="1"/>
          <p:nvPr/>
        </p:nvSpPr>
        <p:spPr>
          <a:xfrm>
            <a:off x="9141714" y="4727448"/>
            <a:ext cx="2361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Discharged to</a:t>
            </a:r>
            <a:endParaRPr lang="en-US" sz="1400" dirty="0"/>
          </a:p>
        </p:txBody>
      </p:sp>
      <p:graphicFrame>
        <p:nvGraphicFramePr>
          <p:cNvPr id="9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1714" y="5020056"/>
          <a:ext cx="2361438" cy="914400"/>
        </p:xfrm>
        <a:graphic>
          <a:graphicData uri="http://schemas.openxmlformats.org/drawingml/2006/table">
            <a:tbl>
              <a:tblPr/>
              <a:tblGrid>
                <a:gridCol w="1126998"/>
                <a:gridCol w="457200"/>
                <a:gridCol w="7772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Share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Readmitted</a:t>
                      </a:r>
                      <a:endParaRPr lang="en-US" sz="10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Home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61%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9.3%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Post-acute care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34%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14.9%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12.8%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RevOps and FinOps problem: readmissions put revenue at risk and consume cost and capacity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783080"/>
            <a:ext cx="5362956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783080"/>
            <a:ext cx="5362956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RevOps problem: revenue at risk and unattributed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57%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2331720"/>
            <a:ext cx="3442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payer-recorded readmissions are Medicare patients, and Medicare can cut payments by up to 3% for excess readmissions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461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63%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2240280" y="3246120"/>
            <a:ext cx="3442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fall on government payers (Medicare and Medicaid), where rates are set, not negotiated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1605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2240280" y="4160520"/>
            <a:ext cx="3442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readmissions have no payer on record: $70M of care that cannot be tied to a contract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77356" y="1783080"/>
            <a:ext cx="5362956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6277356" y="1783080"/>
            <a:ext cx="5362956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05956" y="178308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FinOps problem: cost and capacity consumed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505956" y="23317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$172M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7968996" y="2331720"/>
            <a:ext cx="3442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cost of delivering 11,314 readmissions, or $17.3M for every 10,000 discharges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505956" y="32461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13%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968996" y="3246120"/>
            <a:ext cx="3442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all bed days, about 56,900, are used by patients discharged less than 30 days earlier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505956" y="41605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$205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7968996" y="4160520"/>
            <a:ext cx="34427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break-even spend per patient on discharge support when it is not targeted, against $417 for high-risk patients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3035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Behind both: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11.4% of diabetic discharges return within 30 days. A published study of 70,000 patients found 92% were admitted for another illness and 82% had no HbA1c 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hypothesis: targeted support for the 26% of patients who drive 42% of readmissions cuts their rate by 15%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783080"/>
            <a:ext cx="365760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Readmission risk score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3200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Inpatient stays in prior year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 each, max 3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Emergency visit in prior year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Discharge to post-acute care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Nine or more diagnoses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Stay of seven days or longer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7724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 or more points flags the patient.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434840" y="1691640"/>
          <a:ext cx="4297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8961120" y="17830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26%</a:t>
            </a:r>
            <a:endParaRPr lang="en-US" sz="2800" dirty="0"/>
          </a:p>
        </p:txBody>
      </p:sp>
      <p:sp>
        <p:nvSpPr>
          <p:cNvPr id="10" name="Text 5"/>
          <p:cNvSpPr txBox="1"/>
          <p:nvPr/>
        </p:nvSpPr>
        <p:spPr>
          <a:xfrm>
            <a:off x="10332720" y="1783080"/>
            <a:ext cx="1307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discharges are flagged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8961120" y="27889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18.3%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10332720" y="2788920"/>
            <a:ext cx="1307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them return, against 9.0% of the rest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8961120" y="37947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42%</a:t>
            </a:r>
            <a:endParaRPr lang="en-US" sz="28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0" y="3794760"/>
            <a:ext cx="1307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all readmissions come from them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6" name="Shape 11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540044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4983480"/>
            <a:ext cx="9765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Hypothesis: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if flagged patients get a structured transition bundle, their 30-day readmission rate falls from 18.3% to 15.5% or lower, reducing cost and bed days (FinOps) and Medicare penalty exposure (RevOps).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solution: five actions, each addressing a named RevOps or FinOps problem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3017520"/>
                <a:gridCol w="41422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Solution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Area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Problem it addresses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What it delivers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1. Automatic risk flag in the EHR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FinOps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Discharge support spread evenly does not pay back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Directs spend to the 26% of patients who hold 42% of readmissions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2. Transition bundle for flagged patients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FinOps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$172M cost of readmission care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71 fewer readmissions and $1.08M of cost avoided per 10,000 discharges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RevOps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Medicare penalty of up to 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62% of flagged patients are Medicare, so fewer returns count toward the penalty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3. Standard post-acute handoff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FinOps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13% of bed days used by return stays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Targets transfers that return at 14.9%, each using 5.0 bed 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4. HbA1c test on admission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FinOps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Avoidable returns after diabetes admissions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Closes the 83% testing gap; tested patients return at 9.6% against 14.7%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5. Payer required at registration, reported monthly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RevOps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41% of readmissions have no payer on record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$7.0M of readmission care per 10,000 discharges becomes attributable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257800"/>
            <a:ext cx="3575304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31520" y="525780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Days 0–30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Validate the score on local data, build the flag, fix payer capture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306824" y="5257800"/>
            <a:ext cx="3575304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4489704" y="525780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Days 30–120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Run the pathway on two units against two comparison units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065008" y="5257800"/>
            <a:ext cx="3575304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247888" y="525780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Days 120–180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Compare readmissions and cost, then scale, adjust or stop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value: lower cost and protected revenue for the hospital, fewer returns and safer care for patients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783080"/>
            <a:ext cx="5362956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783080"/>
            <a:ext cx="49971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Value to the hospital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259003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2423160"/>
            <a:ext cx="2224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FINOPS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$0.43M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36392"/>
            <a:ext cx="2224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net saving: $1.08M of cost avoided less $0.65M programme cost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21558" y="2331720"/>
            <a:ext cx="259003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04438" y="2423160"/>
            <a:ext cx="2224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FINOPS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504438" y="265176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357 bed days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504438" y="3136392"/>
            <a:ext cx="2224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released, room for about 81 new admissions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840480"/>
            <a:ext cx="259003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3931920"/>
            <a:ext cx="2224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REVOPS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16052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62%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645152"/>
            <a:ext cx="2224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flagged patients are Medicare, where the 3% penalty applies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321558" y="3840480"/>
            <a:ext cx="259003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504438" y="3931920"/>
            <a:ext cx="2224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REVOPS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504438" y="416052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$7.0M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3504438" y="4645152"/>
            <a:ext cx="2224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readmission care becomes attributable to a payer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77356" y="1783080"/>
            <a:ext cx="5362956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60236" y="1783080"/>
            <a:ext cx="49971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Value to patients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77356" y="2331720"/>
            <a:ext cx="259003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60236" y="2423160"/>
            <a:ext cx="2224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FEWER RETURNS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60236" y="265176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71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6460236" y="3136392"/>
            <a:ext cx="2224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fewer readmissions, about 42 of them emergency arrivals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050274" y="2331720"/>
            <a:ext cx="259003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233154" y="2423160"/>
            <a:ext cx="2224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TIME AT HOME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233154" y="265176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357 days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9233154" y="3136392"/>
            <a:ext cx="2224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 home and out of a hospital bed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77356" y="3840480"/>
            <a:ext cx="259003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60236" y="3931920"/>
            <a:ext cx="2224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SAFER MEDICINES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460236" y="416052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2,586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460236" y="4645152"/>
            <a:ext cx="2224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high-risk patients get a medicines review and follow-up call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050274" y="3840480"/>
            <a:ext cx="2590038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233154" y="3931920"/>
            <a:ext cx="2224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DIABETES CONTROL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233154" y="4160520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8,300</a:t>
            </a:r>
            <a:endParaRPr lang="en-US" sz="2600" dirty="0"/>
          </a:p>
        </p:txBody>
      </p:sp>
      <p:sp>
        <p:nvSpPr>
          <p:cNvPr id="39" name="Text 36"/>
          <p:cNvSpPr txBox="1"/>
          <p:nvPr/>
        </p:nvSpPr>
        <p:spPr>
          <a:xfrm>
            <a:off x="9233154" y="4645152"/>
            <a:ext cx="222427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more patients get an HbA1c result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48640" y="539496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822960" y="539496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Decision requested: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approve the 180-day pilot on two units.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Figures are per 10,000 discharges and assume a 15% reduction, $15,200 per readmission and $250 per flagged patient.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dmission Tax">
  <a:themeElements>
    <a:clrScheme name="Readmission Tax">
      <a:dk1>
        <a:srgbClr val="14272E"/>
      </a:dk1>
      <a:lt1>
        <a:srgbClr val="FFFFFF"/>
      </a:lt1>
      <a:dk2>
        <a:srgbClr val="0B3C47"/>
      </a:dk2>
      <a:lt2>
        <a:srgbClr val="EDF4F4"/>
      </a:lt2>
      <a:accent1>
        <a:srgbClr val="0E7C86"/>
      </a:accent1>
      <a:accent2>
        <a:srgbClr val="E4572E"/>
      </a:accent2>
      <a:accent3>
        <a:srgbClr val="F2A541"/>
      </a:accent3>
      <a:accent4>
        <a:srgbClr val="5E7278"/>
      </a:accent4>
      <a:accent5>
        <a:srgbClr val="9CCBC8"/>
      </a:accent5>
      <a:accent6>
        <a:srgbClr val="2E4057"/>
      </a:accent6>
      <a:hlink>
        <a:srgbClr val="0E7C86"/>
      </a:hlink>
      <a:folHlink>
        <a:srgbClr val="5E7278"/>
      </a:folHlink>
    </a:clrScheme>
    <a:fontScheme name="Readmission Tax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readmission tax</dc:title>
  <dc:subject>PptxGenJS Presentation</dc:subject>
  <dc:creator>Analytical consulting – Hospital RevOps and FinOps</dc:creator>
  <cp:lastModifiedBy>Analytical consulting – Hospital RevOps and FinOps</cp:lastModifiedBy>
  <cp:revision>1</cp:revision>
  <dcterms:created xsi:type="dcterms:W3CDTF">2026-10-09T04:27:16Z</dcterms:created>
  <dcterms:modified xsi:type="dcterms:W3CDTF">2026-10-09T04:27:16Z</dcterms:modified>
</cp:coreProperties>
</file>